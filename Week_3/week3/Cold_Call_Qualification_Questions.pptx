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Store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4DA8FF"/>
                </a:solidFill>
                <a:latin typeface="Calibri"/>
              </a:defRPr>
            </a:pPr>
            <a:r>
              <a:t>Qualification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B0B0C0"/>
                </a:solidFill>
                <a:latin typeface="Calibri"/>
              </a:defRPr>
            </a:pPr>
            <a:r>
              <a:t>Ask these questions during your cold call — BEFORE visiting the store.</a:t>
            </a:r>
            <a:br/>
            <a:r>
              <a:t>This helps you understand if they are a good fit and prepares you for the meeting.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669280"/>
            <a:ext cx="1828800" cy="54864"/>
          </a:xfrm>
          <a:prstGeom prst="rect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Retail Control Architect™  •  Cold Call Prep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D700"/>
                </a:solidFill>
                <a:latin typeface="Calibri"/>
              </a:defRPr>
            </a:pPr>
            <a:r>
              <a:t>How to Use This Guide 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91440" cy="685800"/>
          </a:xfrm>
          <a:prstGeom prst="rect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7830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Call the store owner or manager to introduce yourself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9144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670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Use these questions to understand their current situation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74720"/>
            <a:ext cx="9144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584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✍️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611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Write down their answers — this becomes your prep sheet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389120"/>
            <a:ext cx="9144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498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526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Green flags = Good fit → Schedule a store visit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03520"/>
            <a:ext cx="91440" cy="6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413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440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Red flags = Not ready → Follow up later, don't waste your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5943600"/>
            <a:ext cx="6858000" cy="64008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5989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D700"/>
                </a:solidFill>
                <a:latin typeface="Calibri"/>
              </a:defRPr>
            </a:pPr>
            <a:r>
              <a:t>💡 Tip: Keep the conversation friendly. You're helping them, not selling.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Opening Script — What To Say First 🗣️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058400" cy="4114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"Hi [Name], this is Aakash from Retail Control Architect."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848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371600" y="24323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0B0C0"/>
                </a:solidFill>
                <a:latin typeface="Calibri"/>
              </a:defRPr>
            </a:pPr>
            <a:r>
              <a:t>"I work with clothing &amp; retail store owners to help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797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0B0C0"/>
                </a:solidFill>
                <a:latin typeface="Calibri"/>
              </a:defRPr>
            </a:pPr>
            <a:r>
              <a:t>stop losing money from stock problems."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272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0B0C0"/>
                </a:solidFill>
                <a:latin typeface="Calibri"/>
              </a:defRPr>
            </a:pPr>
            <a:r>
              <a:t>"I wanted to quickly ask you a few questions to see 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221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0B0C0"/>
                </a:solidFill>
                <a:latin typeface="Calibri"/>
              </a:defRPr>
            </a:pPr>
            <a:r>
              <a:t>I can help your store too. Do you have 3 minutes?"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6966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371600" y="451713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If they say YES → Continue with the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646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B35"/>
                </a:solidFill>
                <a:latin typeface="Calibri"/>
              </a:defRPr>
            </a:pPr>
            <a:r>
              <a:t>If they say NO → Ask: 'When would be a better time to call?'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08099"/>
                </a:solidFill>
                <a:latin typeface="Calibri"/>
              </a:defRPr>
            </a:pPr>
            <a:r>
              <a:t>If they say NOT INTERESTED → Thank them and move 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365760"/>
            <a:ext cx="594360" cy="594360"/>
          </a:xfrm>
          <a:prstGeom prst="ellipse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Basic Store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08099"/>
                </a:solidFill>
                <a:latin typeface="Calibri"/>
              </a:defRPr>
            </a:pPr>
            <a:r>
              <a:t>Understanding their business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DA8FF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01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 type of products do you sell?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04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(Clothes, shoes, accessories, etc.)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44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DA8F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44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How many stores/branches do you have?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47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(Single store or multiple locations)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87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DA8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87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Roughly how many staff members work in your store?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(Helps understand team size)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257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330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DA8FF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30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How long have you been running this business?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733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(New vs. experienced owner)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36576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Stock &amp; Inventory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08099"/>
                </a:solidFill>
                <a:latin typeface="Calibri"/>
              </a:defRPr>
            </a:pPr>
            <a:r>
              <a:t>This reveals the REAL pain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B35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01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Do you ever find that your actual stock doesn't match what your records show?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04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D700"/>
                </a:solidFill>
                <a:latin typeface="Calibri"/>
              </a:defRPr>
            </a:pPr>
            <a:r>
              <a:t>🔥 KEY QUESTION — If YES, they are a perfect fit!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44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B35"/>
                </a:solidFill>
                <a:latin typeface="Calibri"/>
              </a:defRPr>
            </a:pPr>
            <a:r>
              <a:t>Q6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44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How do you currently keep track of what comes in and goes out?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47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D700"/>
                </a:solidFill>
                <a:latin typeface="Calibri"/>
              </a:defRPr>
            </a:pPr>
            <a:r>
              <a:t>(Computer, register, notebook, or just memory?)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87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B35"/>
                </a:solidFill>
                <a:latin typeface="Calibri"/>
              </a:defRPr>
            </a:pPr>
            <a:r>
              <a:t>Q7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87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When was the last time you did a full stock count?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D700"/>
                </a:solidFill>
                <a:latin typeface="Calibri"/>
              </a:defRPr>
            </a:pPr>
            <a:r>
              <a:t>(If 'never' or 'long time ago' — very strong lead!)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257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330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B35"/>
                </a:solidFill>
                <a:latin typeface="Calibri"/>
              </a:defRPr>
            </a:pPr>
            <a:r>
              <a:t>Q8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30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Have you ever been surprised by missing items or shortage at month-end?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733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D700"/>
                </a:solidFill>
                <a:latin typeface="Calibri"/>
              </a:defRPr>
            </a:pPr>
            <a:r>
              <a:t>(This tells you how aware they are of the problem)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365760"/>
            <a:ext cx="594360" cy="5943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Staff &amp; Daily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08099"/>
                </a:solidFill>
                <a:latin typeface="Calibri"/>
              </a:defRPr>
            </a:pPr>
            <a:r>
              <a:t>Understanding how the store operates day-to-day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Q9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01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Does each staff member have clear responsibilities — or does everyone do everything?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04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(Unclear roles = chaos = losses)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44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Q10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44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Is there a daily routine or checklist your staff follows for stock?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47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(If NO — great opportunity to help!)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87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Q11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87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Do you feel confident that your staff handles stock carefully?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(Listen for hesitation — that's your signal)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257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330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Q12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30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Have you ever suspected items being taken or mishandled by staff?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733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(Sensitive question — ask gently)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365760"/>
            <a:ext cx="594360" cy="5943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Current Software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08099"/>
                </a:solidFill>
                <a:latin typeface="Calibri"/>
              </a:defRPr>
            </a:pPr>
            <a:r>
              <a:t>Learning what they've already tried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960120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C5CE7"/>
                </a:solidFill>
                <a:latin typeface="Calibri"/>
              </a:defRPr>
            </a:pPr>
            <a:r>
              <a:t>Q13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Do you use any billing software or computer system for your store?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(If YES — which one? If NO — they might be even more open to help)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00400"/>
            <a:ext cx="960120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C5CE7"/>
                </a:solidFill>
                <a:latin typeface="Calibri"/>
              </a:defRPr>
            </a:pPr>
            <a:r>
              <a:t>Q14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Have you ever tried any software specifically for stock management?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49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(If they tried and failed — they understand the pain deeply)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72000"/>
            <a:ext cx="960120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C5CE7"/>
                </a:solidFill>
                <a:latin typeface="Calibri"/>
              </a:defRPr>
            </a:pPr>
            <a:r>
              <a:t>Q15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63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How do you check if your store made profit each month?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20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(Many owners don't know their real profit — big pain point!)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365760"/>
            <a:ext cx="594360" cy="5943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Willingness &amp; Urgency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08099"/>
                </a:solidFill>
                <a:latin typeface="Calibri"/>
              </a:defRPr>
            </a:pPr>
            <a:r>
              <a:t>Finding out if they're READY to fix this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Q16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01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If I showed you exactly where you're losing money — would you want to fix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04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E676"/>
                </a:solidFill>
                <a:latin typeface="Calibri"/>
              </a:defRPr>
            </a:pPr>
            <a:r>
              <a:t>🎯 MOST IMPORTANT — If 'YES' → They are QUALIFIED!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44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Q17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44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How much do you think stock problems cost your store every month?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47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E676"/>
                </a:solidFill>
                <a:latin typeface="Calibri"/>
              </a:defRPr>
            </a:pPr>
            <a:r>
              <a:t>(Helps them realize the size of their problem)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87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Q18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87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Have you been thinking about improving your stock management recently?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E676"/>
                </a:solidFill>
                <a:latin typeface="Calibri"/>
              </a:defRPr>
            </a:pPr>
            <a:r>
              <a:t>(If YES — they are actively looking for a solution!)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257800"/>
            <a:ext cx="9601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330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Q19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30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Would you be open to a free 30-minute store check-up where I visit and diagnose the issues?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7332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E676"/>
                </a:solidFill>
                <a:latin typeface="Calibri"/>
              </a:defRPr>
            </a:pPr>
            <a:r>
              <a:t>🔥 This is your CLOSE — sets up the store visit meeting!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How To Score Their Answers 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572000"/>
          </a:xfrm>
          <a:prstGeom prst="roundRect">
            <a:avLst/>
          </a:prstGeom>
          <a:solidFill>
            <a:srgbClr val="0A2A15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E676"/>
                </a:solidFill>
                <a:latin typeface="Calibri"/>
              </a:defRPr>
            </a:pPr>
            <a:r>
              <a:t>🟢 GREEN — Perfect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They admit stock doesn't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They're frustrated with current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They've tried other solutions that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They said YES to store visit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Multi-store owners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00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Open to investing in improvement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572000"/>
          </a:xfrm>
          <a:prstGeom prst="roundRect">
            <a:avLst/>
          </a:prstGeom>
          <a:solidFill>
            <a:srgbClr val="2A250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🟡 YELLOW — Follow Up Later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⚠️ They're 'busy right now'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788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⚠️ Not sure if they have a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⚠️ Want to think about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794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⚠️ Asked you to call back 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⚠️ Interested but hesitant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800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⚠️ New store (&lt; 6 months old)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371600"/>
            <a:ext cx="3383280" cy="4572000"/>
          </a:xfrm>
          <a:prstGeom prst="roundRect">
            <a:avLst/>
          </a:prstGeom>
          <a:solidFill>
            <a:srgbClr val="2A1515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4D4D"/>
                </a:solidFill>
                <a:latin typeface="Calibri"/>
              </a:defRPr>
            </a:pPr>
            <a:r>
              <a:t>🔴 RED — Not a Fit (Now)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Says 'everything is fine'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88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Doesn't care about stock issues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"My staff handles everything"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794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Refuses to meet or discuss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Only wants free advice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800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Argumentative / not respectful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Closing Script — Book the Store Visit 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4572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Based on what you have told me, I think I can really help your store.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Here is what I would like to do -- completely FREE, no obligation: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371600" y="2971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0B0C0"/>
                </a:solidFill>
                <a:latin typeface="Calibri"/>
              </a:defRPr>
            </a:pPr>
            <a:r>
              <a:t>  I will visit your store for 30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0B0C0"/>
                </a:solidFill>
                <a:latin typeface="Calibri"/>
              </a:defRPr>
            </a:pPr>
            <a:r>
              <a:t>  Walk through your stock process with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0B0C0"/>
                </a:solidFill>
                <a:latin typeface="Calibri"/>
              </a:defRPr>
            </a:pPr>
            <a:r>
              <a:t>  Show you exactly where money might be leaking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0B0C0"/>
                </a:solidFill>
                <a:latin typeface="Calibri"/>
              </a:defRPr>
            </a:pPr>
            <a:r>
              <a:t>  Give you a clear picture of what can be improved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51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E676"/>
                </a:solidFill>
                <a:latin typeface="Calibri"/>
              </a:defRPr>
            </a:pPr>
            <a:r>
              <a:t>Would Tuesday or Thursday work better for you?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92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(Always give 2 options -- makes it easier for them to choose)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371600" y="5532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B35"/>
                </a:solidFill>
                <a:latin typeface="Calibri"/>
              </a:defRPr>
            </a:pPr>
            <a:r>
              <a:t>If they hesitate: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0B0C0"/>
                </a:solidFill>
                <a:latin typeface="Calibri"/>
              </a:defRPr>
            </a:pPr>
            <a:r>
              <a:t>No worries! There is absolutely no cost and no pressure. I just want to show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172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0B0C0"/>
                </a:solidFill>
                <a:latin typeface="Calibri"/>
              </a:defRPr>
            </a:pPr>
            <a:r>
              <a:t>what I found in other stores like yours -- it could save you lakhs.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Notes Template — Fill This For Each Call 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A8FF"/>
                </a:solidFill>
                <a:latin typeface="Calibri"/>
              </a:defRPr>
            </a:pPr>
            <a:r>
              <a:t>Store Name: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___________________________________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105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A8FF"/>
                </a:solidFill>
                <a:latin typeface="Calibri"/>
              </a:defRPr>
            </a:pPr>
            <a:r>
              <a:t>Owner Name: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810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___________________________________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A8FF"/>
                </a:solidFill>
                <a:latin typeface="Calibri"/>
              </a:defRPr>
            </a:pPr>
            <a:r>
              <a:t>Phone Number: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4942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___________________________________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883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A8FF"/>
                </a:solidFill>
                <a:latin typeface="Calibri"/>
              </a:defRPr>
            </a:pPr>
            <a:r>
              <a:t>Store 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8833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Clothing / Footwear / Accessories / Other: 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A8FF"/>
                </a:solidFill>
                <a:latin typeface="Calibri"/>
              </a:defRPr>
            </a:pPr>
            <a:r>
              <a:t>Number of Stores: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1272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___________________________________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A8FF"/>
                </a:solidFill>
                <a:latin typeface="Calibri"/>
              </a:defRPr>
            </a:pPr>
            <a:r>
              <a:t>Staff Count: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___________________________________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05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A8FF"/>
                </a:solidFill>
                <a:latin typeface="Calibri"/>
              </a:defRPr>
            </a:pPr>
            <a:r>
              <a:t>Current Software: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005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None / Billing Only / Stock Mgmt: ____________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439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A8FF"/>
                </a:solidFill>
                <a:latin typeface="Calibri"/>
              </a:defRPr>
            </a:pPr>
            <a:r>
              <a:t>Main Problem: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4398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828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A8FF"/>
                </a:solidFill>
                <a:latin typeface="Calibri"/>
              </a:defRPr>
            </a:pPr>
            <a:r>
              <a:t>Interested in Visit?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88289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YES  /  MAYBE  /  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218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A8FF"/>
                </a:solidFill>
                <a:latin typeface="Calibri"/>
              </a:defRPr>
            </a:pPr>
            <a:r>
              <a:t>Score: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3218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🟢 GREEN  /  🟡 YELLOW  /  🔴 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A8FF"/>
                </a:solidFill>
                <a:latin typeface="Calibri"/>
              </a:defRPr>
            </a:pPr>
            <a:r>
              <a:t>Visit Date/Time: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___________________________________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1996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A8FF"/>
                </a:solidFill>
                <a:latin typeface="Calibri"/>
              </a:defRPr>
            </a:pPr>
            <a:r>
              <a:t>Extra Notes: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619963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___________________________________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D700"/>
                </a:solidFill>
                <a:latin typeface="Calibri"/>
              </a:defRPr>
            </a:pPr>
            <a:r>
              <a:t>Cold Call Do's &amp; Don'ts 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0A2A15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E676"/>
                </a:solidFill>
                <a:latin typeface="Calibri"/>
              </a:defRPr>
            </a:pPr>
            <a:r>
              <a:t>✅ DO's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 Be friendly and warm — smile while talking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 Listen MORE than you talk (80/20 rule)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 Ask open-ended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 Take notes during the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 Offer genuine help, not a sales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 Respect their time — keep it under 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 Confirm the meeting before hanging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86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✅  Follow up if they asked you to call 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029200" cy="4754880"/>
          </a:xfrm>
          <a:prstGeom prst="roundRect">
            <a:avLst/>
          </a:prstGeom>
          <a:solidFill>
            <a:srgbClr val="2A1515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4D4D"/>
                </a:solidFill>
                <a:latin typeface="Calibri"/>
              </a:defRPr>
            </a:pPr>
            <a:r>
              <a:t>❌ DON'Ts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 Don't start with pricing or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743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 Don't criticize their current way of working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00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 Don't use complicated words or tech jargon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57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 Don't argue if they say 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14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 Don't call during busy hours (11am-1pm)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72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 Don't promise unrealistic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29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 Don't sound like a telemarketer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486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❌  Don't rush — let them think and respond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